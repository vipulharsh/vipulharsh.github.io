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gif" ContentType="image/gif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40233600" cy="31089600"/>
  <p:notesSz cx="6858000" cy="9144000"/>
  <p:defaultTextStyle>
    <a:defPPr>
      <a:defRPr lang="en-US"/>
    </a:defPPr>
    <a:lvl1pPr marL="0" algn="l" defTabSz="3507959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979" algn="l" defTabSz="3507959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959" algn="l" defTabSz="3507959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1938" algn="l" defTabSz="3507959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5918" algn="l" defTabSz="3507959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9897" algn="l" defTabSz="3507959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3877" algn="l" defTabSz="3507959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7856" algn="l" defTabSz="3507959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31836" algn="l" defTabSz="3507959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hur, Umang" initials="MU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1803"/>
    <a:srgbClr val="317CC1"/>
    <a:srgbClr val="F6B6D6"/>
    <a:srgbClr val="C41F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 horzBarState="maximized">
    <p:restoredLeft sz="9960" autoAdjust="0"/>
    <p:restoredTop sz="95673"/>
  </p:normalViewPr>
  <p:slideViewPr>
    <p:cSldViewPr snapToGrid="0">
      <p:cViewPr>
        <p:scale>
          <a:sx n="35" d="100"/>
          <a:sy n="35" d="100"/>
        </p:scale>
        <p:origin x="696" y="-18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4B2AC-6881-42B6-8DE3-B9489B22F067}" type="datetimeFigureOut">
              <a:rPr lang="en-US" smtClean="0"/>
              <a:t>2/13/17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3513" y="1143000"/>
            <a:ext cx="3990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B5A6B-6C15-43E3-96A0-1F7D37C6F8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36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7959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1pPr>
    <a:lvl2pPr marL="1753979" algn="l" defTabSz="3507959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2pPr>
    <a:lvl3pPr marL="3507959" algn="l" defTabSz="3507959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3pPr>
    <a:lvl4pPr marL="5261938" algn="l" defTabSz="3507959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4pPr>
    <a:lvl5pPr marL="7015918" algn="l" defTabSz="3507959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5pPr>
    <a:lvl6pPr marL="8769897" algn="l" defTabSz="3507959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6pPr>
    <a:lvl7pPr marL="10523877" algn="l" defTabSz="3507959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7pPr>
    <a:lvl8pPr marL="12277856" algn="l" defTabSz="3507959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8pPr>
    <a:lvl9pPr marL="14031836" algn="l" defTabSz="3507959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33513" y="1143000"/>
            <a:ext cx="39909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0B5A6B-6C15-43E3-96A0-1F7D37C6F8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94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17520" y="5088045"/>
            <a:ext cx="34198560" cy="10823787"/>
          </a:xfrm>
        </p:spPr>
        <p:txBody>
          <a:bodyPr anchor="b"/>
          <a:lstStyle>
            <a:lvl1pPr algn="ctr">
              <a:defRPr sz="26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29200" y="16329239"/>
            <a:ext cx="30175200" cy="7506121"/>
          </a:xfrm>
        </p:spPr>
        <p:txBody>
          <a:bodyPr/>
          <a:lstStyle>
            <a:lvl1pPr marL="0" indent="0" algn="ctr">
              <a:buNone/>
              <a:defRPr sz="10560"/>
            </a:lvl1pPr>
            <a:lvl2pPr marL="2011680" indent="0" algn="ctr">
              <a:buNone/>
              <a:defRPr sz="8800"/>
            </a:lvl2pPr>
            <a:lvl3pPr marL="4023360" indent="0" algn="ctr">
              <a:buNone/>
              <a:defRPr sz="7920"/>
            </a:lvl3pPr>
            <a:lvl4pPr marL="6035040" indent="0" algn="ctr">
              <a:buNone/>
              <a:defRPr sz="7040"/>
            </a:lvl4pPr>
            <a:lvl5pPr marL="8046720" indent="0" algn="ctr">
              <a:buNone/>
              <a:defRPr sz="7040"/>
            </a:lvl5pPr>
            <a:lvl6pPr marL="10058400" indent="0" algn="ctr">
              <a:buNone/>
              <a:defRPr sz="7040"/>
            </a:lvl6pPr>
            <a:lvl7pPr marL="12070080" indent="0" algn="ctr">
              <a:buNone/>
              <a:defRPr sz="7040"/>
            </a:lvl7pPr>
            <a:lvl8pPr marL="14081760" indent="0" algn="ctr">
              <a:buNone/>
              <a:defRPr sz="7040"/>
            </a:lvl8pPr>
            <a:lvl9pPr marL="16093440" indent="0" algn="ctr">
              <a:buNone/>
              <a:defRPr sz="704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B5DD5-DAE9-4E4F-8E3E-EA74E0301A1D}" type="datetimeFigureOut">
              <a:rPr lang="en-US" smtClean="0"/>
              <a:t>2/13/17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0FDD-8201-4E1A-88E1-D4CD7FD9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27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B5DD5-DAE9-4E4F-8E3E-EA74E0301A1D}" type="datetimeFigureOut">
              <a:rPr lang="en-US" smtClean="0"/>
              <a:t>2/13/17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0FDD-8201-4E1A-88E1-D4CD7FD9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9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5107" y="7750819"/>
            <a:ext cx="34701480" cy="12932408"/>
          </a:xfrm>
        </p:spPr>
        <p:txBody>
          <a:bodyPr anchor="b"/>
          <a:lstStyle>
            <a:lvl1pPr>
              <a:defRPr sz="26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5107" y="20805572"/>
            <a:ext cx="34701480" cy="6800848"/>
          </a:xfrm>
        </p:spPr>
        <p:txBody>
          <a:bodyPr/>
          <a:lstStyle>
            <a:lvl1pPr marL="0" indent="0">
              <a:buNone/>
              <a:defRPr sz="10560">
                <a:solidFill>
                  <a:schemeClr val="tx1"/>
                </a:solidFill>
              </a:defRPr>
            </a:lvl1pPr>
            <a:lvl2pPr marL="2011680" indent="0">
              <a:buNone/>
              <a:defRPr sz="8800">
                <a:solidFill>
                  <a:schemeClr val="tx1">
                    <a:tint val="75000"/>
                  </a:schemeClr>
                </a:solidFill>
              </a:defRPr>
            </a:lvl2pPr>
            <a:lvl3pPr marL="4023360" indent="0">
              <a:buNone/>
              <a:defRPr sz="7920">
                <a:solidFill>
                  <a:schemeClr val="tx1">
                    <a:tint val="75000"/>
                  </a:schemeClr>
                </a:solidFill>
              </a:defRPr>
            </a:lvl3pPr>
            <a:lvl4pPr marL="6035040" indent="0">
              <a:buNone/>
              <a:defRPr sz="7040">
                <a:solidFill>
                  <a:schemeClr val="tx1">
                    <a:tint val="75000"/>
                  </a:schemeClr>
                </a:solidFill>
              </a:defRPr>
            </a:lvl4pPr>
            <a:lvl5pPr marL="8046720" indent="0">
              <a:buNone/>
              <a:defRPr sz="7040">
                <a:solidFill>
                  <a:schemeClr val="tx1">
                    <a:tint val="75000"/>
                  </a:schemeClr>
                </a:solidFill>
              </a:defRPr>
            </a:lvl5pPr>
            <a:lvl6pPr marL="10058400" indent="0">
              <a:buNone/>
              <a:defRPr sz="7040">
                <a:solidFill>
                  <a:schemeClr val="tx1">
                    <a:tint val="75000"/>
                  </a:schemeClr>
                </a:solidFill>
              </a:defRPr>
            </a:lvl6pPr>
            <a:lvl7pPr marL="12070080" indent="0">
              <a:buNone/>
              <a:defRPr sz="7040">
                <a:solidFill>
                  <a:schemeClr val="tx1">
                    <a:tint val="75000"/>
                  </a:schemeClr>
                </a:solidFill>
              </a:defRPr>
            </a:lvl7pPr>
            <a:lvl8pPr marL="14081760" indent="0">
              <a:buNone/>
              <a:defRPr sz="7040">
                <a:solidFill>
                  <a:schemeClr val="tx1">
                    <a:tint val="75000"/>
                  </a:schemeClr>
                </a:solidFill>
              </a:defRPr>
            </a:lvl8pPr>
            <a:lvl9pPr marL="16093440" indent="0">
              <a:buNone/>
              <a:defRPr sz="7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B5DD5-DAE9-4E4F-8E3E-EA74E0301A1D}" type="datetimeFigureOut">
              <a:rPr lang="en-US" smtClean="0"/>
              <a:t>2/13/17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0FDD-8201-4E1A-88E1-D4CD7FD9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33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66060" y="8276166"/>
            <a:ext cx="17099280" cy="1972606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368260" y="8276166"/>
            <a:ext cx="17099280" cy="1972606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B5DD5-DAE9-4E4F-8E3E-EA74E0301A1D}" type="datetimeFigureOut">
              <a:rPr lang="en-US" smtClean="0"/>
              <a:t>2/13/17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0FDD-8201-4E1A-88E1-D4CD7FD9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1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300" y="1655240"/>
            <a:ext cx="34701480" cy="60092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1305" y="7621272"/>
            <a:ext cx="17020696" cy="3735068"/>
          </a:xfrm>
        </p:spPr>
        <p:txBody>
          <a:bodyPr anchor="b"/>
          <a:lstStyle>
            <a:lvl1pPr marL="0" indent="0">
              <a:buNone/>
              <a:defRPr sz="10560" b="1"/>
            </a:lvl1pPr>
            <a:lvl2pPr marL="2011680" indent="0">
              <a:buNone/>
              <a:defRPr sz="8800" b="1"/>
            </a:lvl2pPr>
            <a:lvl3pPr marL="4023360" indent="0">
              <a:buNone/>
              <a:defRPr sz="7920" b="1"/>
            </a:lvl3pPr>
            <a:lvl4pPr marL="6035040" indent="0">
              <a:buNone/>
              <a:defRPr sz="7040" b="1"/>
            </a:lvl4pPr>
            <a:lvl5pPr marL="8046720" indent="0">
              <a:buNone/>
              <a:defRPr sz="7040" b="1"/>
            </a:lvl5pPr>
            <a:lvl6pPr marL="10058400" indent="0">
              <a:buNone/>
              <a:defRPr sz="7040" b="1"/>
            </a:lvl6pPr>
            <a:lvl7pPr marL="12070080" indent="0">
              <a:buNone/>
              <a:defRPr sz="7040" b="1"/>
            </a:lvl7pPr>
            <a:lvl8pPr marL="14081760" indent="0">
              <a:buNone/>
              <a:defRPr sz="7040" b="1"/>
            </a:lvl8pPr>
            <a:lvl9pPr marL="16093440" indent="0">
              <a:buNone/>
              <a:defRPr sz="704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1305" y="11356340"/>
            <a:ext cx="17020696" cy="1670346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368262" y="7621272"/>
            <a:ext cx="17104520" cy="3735068"/>
          </a:xfrm>
        </p:spPr>
        <p:txBody>
          <a:bodyPr anchor="b"/>
          <a:lstStyle>
            <a:lvl1pPr marL="0" indent="0">
              <a:buNone/>
              <a:defRPr sz="10560" b="1"/>
            </a:lvl1pPr>
            <a:lvl2pPr marL="2011680" indent="0">
              <a:buNone/>
              <a:defRPr sz="8800" b="1"/>
            </a:lvl2pPr>
            <a:lvl3pPr marL="4023360" indent="0">
              <a:buNone/>
              <a:defRPr sz="7920" b="1"/>
            </a:lvl3pPr>
            <a:lvl4pPr marL="6035040" indent="0">
              <a:buNone/>
              <a:defRPr sz="7040" b="1"/>
            </a:lvl4pPr>
            <a:lvl5pPr marL="8046720" indent="0">
              <a:buNone/>
              <a:defRPr sz="7040" b="1"/>
            </a:lvl5pPr>
            <a:lvl6pPr marL="10058400" indent="0">
              <a:buNone/>
              <a:defRPr sz="7040" b="1"/>
            </a:lvl6pPr>
            <a:lvl7pPr marL="12070080" indent="0">
              <a:buNone/>
              <a:defRPr sz="7040" b="1"/>
            </a:lvl7pPr>
            <a:lvl8pPr marL="14081760" indent="0">
              <a:buNone/>
              <a:defRPr sz="7040" b="1"/>
            </a:lvl8pPr>
            <a:lvl9pPr marL="16093440" indent="0">
              <a:buNone/>
              <a:defRPr sz="704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368262" y="11356340"/>
            <a:ext cx="17104520" cy="1670346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B5DD5-DAE9-4E4F-8E3E-EA74E0301A1D}" type="datetimeFigureOut">
              <a:rPr lang="en-US" smtClean="0"/>
              <a:t>2/13/17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0FDD-8201-4E1A-88E1-D4CD7FD9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83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B5DD5-DAE9-4E4F-8E3E-EA74E0301A1D}" type="datetimeFigureOut">
              <a:rPr lang="en-US" smtClean="0"/>
              <a:t>2/13/17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0FDD-8201-4E1A-88E1-D4CD7FD9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376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B5DD5-DAE9-4E4F-8E3E-EA74E0301A1D}" type="datetimeFigureOut">
              <a:rPr lang="en-US" smtClean="0"/>
              <a:t>2/13/17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0FDD-8201-4E1A-88E1-D4CD7FD9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511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301" y="2072640"/>
            <a:ext cx="12976383" cy="7254240"/>
          </a:xfrm>
        </p:spPr>
        <p:txBody>
          <a:bodyPr anchor="b"/>
          <a:lstStyle>
            <a:lvl1pPr>
              <a:defRPr sz="140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04520" y="4476333"/>
            <a:ext cx="20368260" cy="22093767"/>
          </a:xfrm>
        </p:spPr>
        <p:txBody>
          <a:bodyPr/>
          <a:lstStyle>
            <a:lvl1pPr>
              <a:defRPr sz="14080"/>
            </a:lvl1pPr>
            <a:lvl2pPr>
              <a:defRPr sz="12320"/>
            </a:lvl2pPr>
            <a:lvl3pPr>
              <a:defRPr sz="10560"/>
            </a:lvl3pPr>
            <a:lvl4pPr>
              <a:defRPr sz="8800"/>
            </a:lvl4pPr>
            <a:lvl5pPr>
              <a:defRPr sz="8800"/>
            </a:lvl5pPr>
            <a:lvl6pPr>
              <a:defRPr sz="8800"/>
            </a:lvl6pPr>
            <a:lvl7pPr>
              <a:defRPr sz="8800"/>
            </a:lvl7pPr>
            <a:lvl8pPr>
              <a:defRPr sz="8800"/>
            </a:lvl8pPr>
            <a:lvl9pPr>
              <a:defRPr sz="8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71301" y="9326880"/>
            <a:ext cx="12976383" cy="17279199"/>
          </a:xfrm>
        </p:spPr>
        <p:txBody>
          <a:bodyPr/>
          <a:lstStyle>
            <a:lvl1pPr marL="0" indent="0">
              <a:buNone/>
              <a:defRPr sz="7040"/>
            </a:lvl1pPr>
            <a:lvl2pPr marL="2011680" indent="0">
              <a:buNone/>
              <a:defRPr sz="6160"/>
            </a:lvl2pPr>
            <a:lvl3pPr marL="4023360" indent="0">
              <a:buNone/>
              <a:defRPr sz="5280"/>
            </a:lvl3pPr>
            <a:lvl4pPr marL="6035040" indent="0">
              <a:buNone/>
              <a:defRPr sz="4400"/>
            </a:lvl4pPr>
            <a:lvl5pPr marL="8046720" indent="0">
              <a:buNone/>
              <a:defRPr sz="4400"/>
            </a:lvl5pPr>
            <a:lvl6pPr marL="10058400" indent="0">
              <a:buNone/>
              <a:defRPr sz="4400"/>
            </a:lvl6pPr>
            <a:lvl7pPr marL="12070080" indent="0">
              <a:buNone/>
              <a:defRPr sz="4400"/>
            </a:lvl7pPr>
            <a:lvl8pPr marL="14081760" indent="0">
              <a:buNone/>
              <a:defRPr sz="4400"/>
            </a:lvl8pPr>
            <a:lvl9pPr marL="16093440" indent="0">
              <a:buNone/>
              <a:defRPr sz="4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B5DD5-DAE9-4E4F-8E3E-EA74E0301A1D}" type="datetimeFigureOut">
              <a:rPr lang="en-US" smtClean="0"/>
              <a:t>2/13/17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0FDD-8201-4E1A-88E1-D4CD7FD9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08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1301" y="2072640"/>
            <a:ext cx="12976383" cy="7254240"/>
          </a:xfrm>
        </p:spPr>
        <p:txBody>
          <a:bodyPr anchor="b"/>
          <a:lstStyle>
            <a:lvl1pPr>
              <a:defRPr sz="140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04520" y="4476333"/>
            <a:ext cx="20368260" cy="22093767"/>
          </a:xfrm>
        </p:spPr>
        <p:txBody>
          <a:bodyPr anchor="t"/>
          <a:lstStyle>
            <a:lvl1pPr marL="0" indent="0">
              <a:buNone/>
              <a:defRPr sz="14080"/>
            </a:lvl1pPr>
            <a:lvl2pPr marL="2011680" indent="0">
              <a:buNone/>
              <a:defRPr sz="12320"/>
            </a:lvl2pPr>
            <a:lvl3pPr marL="4023360" indent="0">
              <a:buNone/>
              <a:defRPr sz="10560"/>
            </a:lvl3pPr>
            <a:lvl4pPr marL="6035040" indent="0">
              <a:buNone/>
              <a:defRPr sz="8800"/>
            </a:lvl4pPr>
            <a:lvl5pPr marL="8046720" indent="0">
              <a:buNone/>
              <a:defRPr sz="8800"/>
            </a:lvl5pPr>
            <a:lvl6pPr marL="10058400" indent="0">
              <a:buNone/>
              <a:defRPr sz="8800"/>
            </a:lvl6pPr>
            <a:lvl7pPr marL="12070080" indent="0">
              <a:buNone/>
              <a:defRPr sz="8800"/>
            </a:lvl7pPr>
            <a:lvl8pPr marL="14081760" indent="0">
              <a:buNone/>
              <a:defRPr sz="8800"/>
            </a:lvl8pPr>
            <a:lvl9pPr marL="16093440" indent="0">
              <a:buNone/>
              <a:defRPr sz="88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71301" y="9326880"/>
            <a:ext cx="12976383" cy="17279199"/>
          </a:xfrm>
        </p:spPr>
        <p:txBody>
          <a:bodyPr/>
          <a:lstStyle>
            <a:lvl1pPr marL="0" indent="0">
              <a:buNone/>
              <a:defRPr sz="7040"/>
            </a:lvl1pPr>
            <a:lvl2pPr marL="2011680" indent="0">
              <a:buNone/>
              <a:defRPr sz="6160"/>
            </a:lvl2pPr>
            <a:lvl3pPr marL="4023360" indent="0">
              <a:buNone/>
              <a:defRPr sz="5280"/>
            </a:lvl3pPr>
            <a:lvl4pPr marL="6035040" indent="0">
              <a:buNone/>
              <a:defRPr sz="4400"/>
            </a:lvl4pPr>
            <a:lvl5pPr marL="8046720" indent="0">
              <a:buNone/>
              <a:defRPr sz="4400"/>
            </a:lvl5pPr>
            <a:lvl6pPr marL="10058400" indent="0">
              <a:buNone/>
              <a:defRPr sz="4400"/>
            </a:lvl6pPr>
            <a:lvl7pPr marL="12070080" indent="0">
              <a:buNone/>
              <a:defRPr sz="4400"/>
            </a:lvl7pPr>
            <a:lvl8pPr marL="14081760" indent="0">
              <a:buNone/>
              <a:defRPr sz="4400"/>
            </a:lvl8pPr>
            <a:lvl9pPr marL="16093440" indent="0">
              <a:buNone/>
              <a:defRPr sz="4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B5DD5-DAE9-4E4F-8E3E-EA74E0301A1D}" type="datetimeFigureOut">
              <a:rPr lang="en-US" smtClean="0"/>
              <a:t>2/13/17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0FDD-8201-4E1A-88E1-D4CD7FD9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8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B5DD5-DAE9-4E4F-8E3E-EA74E0301A1D}" type="datetimeFigureOut">
              <a:rPr lang="en-US" smtClean="0"/>
              <a:t>2/13/17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0FDD-8201-4E1A-88E1-D4CD7FD9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369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8792172" y="1655233"/>
            <a:ext cx="8675370" cy="2634699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66062" y="1655233"/>
            <a:ext cx="25523190" cy="263469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B5DD5-DAE9-4E4F-8E3E-EA74E0301A1D}" type="datetimeFigureOut">
              <a:rPr lang="en-US" smtClean="0"/>
              <a:t>2/13/17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20FDD-8201-4E1A-88E1-D4CD7FD9FE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0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66060" y="1655240"/>
            <a:ext cx="34701480" cy="60092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6060" y="8276166"/>
            <a:ext cx="34701480" cy="19726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66060" y="28815460"/>
            <a:ext cx="9052560" cy="16552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B5DD5-DAE9-4E4F-8E3E-EA74E0301A1D}" type="datetimeFigureOut">
              <a:rPr lang="en-US" smtClean="0"/>
              <a:pPr/>
              <a:t>2/13/17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327380" y="28815460"/>
            <a:ext cx="13578840" cy="16552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8414980" y="28815460"/>
            <a:ext cx="9052560" cy="16552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20FDD-8201-4E1A-88E1-D4CD7FD9FEC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798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023360" rtl="0" eaLnBrk="1" latinLnBrk="0" hangingPunct="1">
        <a:lnSpc>
          <a:spcPct val="90000"/>
        </a:lnSpc>
        <a:spcBef>
          <a:spcPct val="0"/>
        </a:spcBef>
        <a:buNone/>
        <a:defRPr sz="193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05840" indent="-1005840" algn="l" defTabSz="4023360" rtl="0" eaLnBrk="1" latinLnBrk="0" hangingPunct="1">
        <a:lnSpc>
          <a:spcPct val="90000"/>
        </a:lnSpc>
        <a:spcBef>
          <a:spcPts val="4400"/>
        </a:spcBef>
        <a:buFont typeface="Arial" panose="020B0604020202020204" pitchFamily="34" charset="0"/>
        <a:buChar char="•"/>
        <a:defRPr sz="12320" kern="1200">
          <a:solidFill>
            <a:schemeClr val="tx1"/>
          </a:solidFill>
          <a:latin typeface="+mn-lt"/>
          <a:ea typeface="+mn-ea"/>
          <a:cs typeface="+mn-cs"/>
        </a:defRPr>
      </a:lvl1pPr>
      <a:lvl2pPr marL="3017520" indent="-1005840" algn="l" defTabSz="4023360" rtl="0" eaLnBrk="1" latinLnBrk="0" hangingPunct="1">
        <a:lnSpc>
          <a:spcPct val="90000"/>
        </a:lnSpc>
        <a:spcBef>
          <a:spcPts val="2200"/>
        </a:spcBef>
        <a:buFont typeface="Arial" panose="020B0604020202020204" pitchFamily="34" charset="0"/>
        <a:buChar char="•"/>
        <a:defRPr sz="10560" kern="1200">
          <a:solidFill>
            <a:schemeClr val="tx1"/>
          </a:solidFill>
          <a:latin typeface="+mn-lt"/>
          <a:ea typeface="+mn-ea"/>
          <a:cs typeface="+mn-cs"/>
        </a:defRPr>
      </a:lvl2pPr>
      <a:lvl3pPr marL="5029200" indent="-1005840" algn="l" defTabSz="4023360" rtl="0" eaLnBrk="1" latinLnBrk="0" hangingPunct="1">
        <a:lnSpc>
          <a:spcPct val="90000"/>
        </a:lnSpc>
        <a:spcBef>
          <a:spcPts val="2200"/>
        </a:spcBef>
        <a:buFont typeface="Arial" panose="020B0604020202020204" pitchFamily="34" charset="0"/>
        <a:buChar char="•"/>
        <a:defRPr sz="8800" kern="1200">
          <a:solidFill>
            <a:schemeClr val="tx1"/>
          </a:solidFill>
          <a:latin typeface="+mn-lt"/>
          <a:ea typeface="+mn-ea"/>
          <a:cs typeface="+mn-cs"/>
        </a:defRPr>
      </a:lvl3pPr>
      <a:lvl4pPr marL="7040880" indent="-1005840" algn="l" defTabSz="4023360" rtl="0" eaLnBrk="1" latinLnBrk="0" hangingPunct="1">
        <a:lnSpc>
          <a:spcPct val="90000"/>
        </a:lnSpc>
        <a:spcBef>
          <a:spcPts val="2200"/>
        </a:spcBef>
        <a:buFont typeface="Arial" panose="020B0604020202020204" pitchFamily="34" charset="0"/>
        <a:buChar char="•"/>
        <a:defRPr sz="7920" kern="1200">
          <a:solidFill>
            <a:schemeClr val="tx1"/>
          </a:solidFill>
          <a:latin typeface="+mn-lt"/>
          <a:ea typeface="+mn-ea"/>
          <a:cs typeface="+mn-cs"/>
        </a:defRPr>
      </a:lvl4pPr>
      <a:lvl5pPr marL="9052560" indent="-1005840" algn="l" defTabSz="4023360" rtl="0" eaLnBrk="1" latinLnBrk="0" hangingPunct="1">
        <a:lnSpc>
          <a:spcPct val="90000"/>
        </a:lnSpc>
        <a:spcBef>
          <a:spcPts val="2200"/>
        </a:spcBef>
        <a:buFont typeface="Arial" panose="020B0604020202020204" pitchFamily="34" charset="0"/>
        <a:buChar char="•"/>
        <a:defRPr sz="7920" kern="1200">
          <a:solidFill>
            <a:schemeClr val="tx1"/>
          </a:solidFill>
          <a:latin typeface="+mn-lt"/>
          <a:ea typeface="+mn-ea"/>
          <a:cs typeface="+mn-cs"/>
        </a:defRPr>
      </a:lvl5pPr>
      <a:lvl6pPr marL="11064240" indent="-1005840" algn="l" defTabSz="4023360" rtl="0" eaLnBrk="1" latinLnBrk="0" hangingPunct="1">
        <a:lnSpc>
          <a:spcPct val="90000"/>
        </a:lnSpc>
        <a:spcBef>
          <a:spcPts val="2200"/>
        </a:spcBef>
        <a:buFont typeface="Arial" panose="020B0604020202020204" pitchFamily="34" charset="0"/>
        <a:buChar char="•"/>
        <a:defRPr sz="7920" kern="1200">
          <a:solidFill>
            <a:schemeClr val="tx1"/>
          </a:solidFill>
          <a:latin typeface="+mn-lt"/>
          <a:ea typeface="+mn-ea"/>
          <a:cs typeface="+mn-cs"/>
        </a:defRPr>
      </a:lvl6pPr>
      <a:lvl7pPr marL="13075920" indent="-1005840" algn="l" defTabSz="4023360" rtl="0" eaLnBrk="1" latinLnBrk="0" hangingPunct="1">
        <a:lnSpc>
          <a:spcPct val="90000"/>
        </a:lnSpc>
        <a:spcBef>
          <a:spcPts val="2200"/>
        </a:spcBef>
        <a:buFont typeface="Arial" panose="020B0604020202020204" pitchFamily="34" charset="0"/>
        <a:buChar char="•"/>
        <a:defRPr sz="7920" kern="1200">
          <a:solidFill>
            <a:schemeClr val="tx1"/>
          </a:solidFill>
          <a:latin typeface="+mn-lt"/>
          <a:ea typeface="+mn-ea"/>
          <a:cs typeface="+mn-cs"/>
        </a:defRPr>
      </a:lvl7pPr>
      <a:lvl8pPr marL="15087600" indent="-1005840" algn="l" defTabSz="4023360" rtl="0" eaLnBrk="1" latinLnBrk="0" hangingPunct="1">
        <a:lnSpc>
          <a:spcPct val="90000"/>
        </a:lnSpc>
        <a:spcBef>
          <a:spcPts val="2200"/>
        </a:spcBef>
        <a:buFont typeface="Arial" panose="020B0604020202020204" pitchFamily="34" charset="0"/>
        <a:buChar char="•"/>
        <a:defRPr sz="7920" kern="1200">
          <a:solidFill>
            <a:schemeClr val="tx1"/>
          </a:solidFill>
          <a:latin typeface="+mn-lt"/>
          <a:ea typeface="+mn-ea"/>
          <a:cs typeface="+mn-cs"/>
        </a:defRPr>
      </a:lvl8pPr>
      <a:lvl9pPr marL="17099280" indent="-1005840" algn="l" defTabSz="4023360" rtl="0" eaLnBrk="1" latinLnBrk="0" hangingPunct="1">
        <a:lnSpc>
          <a:spcPct val="90000"/>
        </a:lnSpc>
        <a:spcBef>
          <a:spcPts val="2200"/>
        </a:spcBef>
        <a:buFont typeface="Arial" panose="020B0604020202020204" pitchFamily="34" charset="0"/>
        <a:buChar char="•"/>
        <a:defRPr sz="7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023360" rtl="0" eaLnBrk="1" latinLnBrk="0" hangingPunct="1">
        <a:defRPr sz="7920" kern="1200">
          <a:solidFill>
            <a:schemeClr val="tx1"/>
          </a:solidFill>
          <a:latin typeface="+mn-lt"/>
          <a:ea typeface="+mn-ea"/>
          <a:cs typeface="+mn-cs"/>
        </a:defRPr>
      </a:lvl1pPr>
      <a:lvl2pPr marL="2011680" algn="l" defTabSz="4023360" rtl="0" eaLnBrk="1" latinLnBrk="0" hangingPunct="1">
        <a:defRPr sz="792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0" algn="l" defTabSz="4023360" rtl="0" eaLnBrk="1" latinLnBrk="0" hangingPunct="1">
        <a:defRPr sz="7920" kern="1200">
          <a:solidFill>
            <a:schemeClr val="tx1"/>
          </a:solidFill>
          <a:latin typeface="+mn-lt"/>
          <a:ea typeface="+mn-ea"/>
          <a:cs typeface="+mn-cs"/>
        </a:defRPr>
      </a:lvl3pPr>
      <a:lvl4pPr marL="6035040" algn="l" defTabSz="4023360" rtl="0" eaLnBrk="1" latinLnBrk="0" hangingPunct="1">
        <a:defRPr sz="7920" kern="1200">
          <a:solidFill>
            <a:schemeClr val="tx1"/>
          </a:solidFill>
          <a:latin typeface="+mn-lt"/>
          <a:ea typeface="+mn-ea"/>
          <a:cs typeface="+mn-cs"/>
        </a:defRPr>
      </a:lvl4pPr>
      <a:lvl5pPr marL="8046720" algn="l" defTabSz="4023360" rtl="0" eaLnBrk="1" latinLnBrk="0" hangingPunct="1">
        <a:defRPr sz="79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0" algn="l" defTabSz="4023360" rtl="0" eaLnBrk="1" latinLnBrk="0" hangingPunct="1">
        <a:defRPr sz="7920" kern="1200">
          <a:solidFill>
            <a:schemeClr val="tx1"/>
          </a:solidFill>
          <a:latin typeface="+mn-lt"/>
          <a:ea typeface="+mn-ea"/>
          <a:cs typeface="+mn-cs"/>
        </a:defRPr>
      </a:lvl6pPr>
      <a:lvl7pPr marL="12070080" algn="l" defTabSz="4023360" rtl="0" eaLnBrk="1" latinLnBrk="0" hangingPunct="1">
        <a:defRPr sz="7920" kern="1200">
          <a:solidFill>
            <a:schemeClr val="tx1"/>
          </a:solidFill>
          <a:latin typeface="+mn-lt"/>
          <a:ea typeface="+mn-ea"/>
          <a:cs typeface="+mn-cs"/>
        </a:defRPr>
      </a:lvl7pPr>
      <a:lvl8pPr marL="14081760" algn="l" defTabSz="4023360" rtl="0" eaLnBrk="1" latinLnBrk="0" hangingPunct="1">
        <a:defRPr sz="7920" kern="1200">
          <a:solidFill>
            <a:schemeClr val="tx1"/>
          </a:solidFill>
          <a:latin typeface="+mn-lt"/>
          <a:ea typeface="+mn-ea"/>
          <a:cs typeface="+mn-cs"/>
        </a:defRPr>
      </a:lvl8pPr>
      <a:lvl9pPr marL="16093440" algn="l" defTabSz="4023360" rtl="0" eaLnBrk="1" latinLnBrk="0" hangingPunct="1">
        <a:defRPr sz="7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hyperlink" Target="http://vharsh2.web.engr.illinois.edu/projects/parsort/prelimreport.pdf" TargetMode="External"/><Relationship Id="rId8" Type="http://schemas.openxmlformats.org/officeDocument/2006/relationships/image" Target="../media/image5.emf"/><Relationship Id="rId9" Type="http://schemas.openxmlformats.org/officeDocument/2006/relationships/image" Target="../media/image6.emf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49"/>
          <p:cNvSpPr txBox="1"/>
          <p:nvPr/>
        </p:nvSpPr>
        <p:spPr>
          <a:xfrm>
            <a:off x="11136121" y="538931"/>
            <a:ext cx="18900183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0" b="1" dirty="0" smtClean="0">
                <a:latin typeface="Garamond" panose="02020404030301010803" pitchFamily="18" charset="0"/>
              </a:rPr>
              <a:t>Histogram Sort </a:t>
            </a:r>
            <a:r>
              <a:rPr lang="en-US" sz="9000" b="1" smtClean="0">
                <a:latin typeface="Garamond" panose="02020404030301010803" pitchFamily="18" charset="0"/>
              </a:rPr>
              <a:t>with Sampling (HSS)</a:t>
            </a:r>
            <a:endParaRPr lang="en-US" sz="9000" b="1" dirty="0">
              <a:latin typeface="Garamond" panose="02020404030301010803" pitchFamily="18" charset="0"/>
            </a:endParaRPr>
          </a:p>
        </p:txBody>
      </p:sp>
      <p:pic>
        <p:nvPicPr>
          <p:cNvPr id="153" name="Picture 15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381" y="1320451"/>
            <a:ext cx="6142755" cy="1018939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11393"/>
              </p:ext>
            </p:extLst>
          </p:nvPr>
        </p:nvGraphicFramePr>
        <p:xfrm>
          <a:off x="12235137" y="2306298"/>
          <a:ext cx="16720624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0624"/>
              </a:tblGrid>
              <a:tr h="570183">
                <a:tc>
                  <a:txBody>
                    <a:bodyPr/>
                    <a:lstStyle/>
                    <a:p>
                      <a:pPr marL="0" marR="0" indent="0" algn="ctr" defTabSz="40233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5400" b="0" kern="1200" dirty="0" smtClean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Vipul</a:t>
                      </a:r>
                      <a:r>
                        <a:rPr lang="en-US" sz="5400" b="0" kern="1200" baseline="0" dirty="0" smtClean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 Harsh,  </a:t>
                      </a:r>
                      <a:r>
                        <a:rPr lang="en-US" sz="5400" b="0" kern="1200" dirty="0" err="1" smtClean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Laxmikant</a:t>
                      </a:r>
                      <a:r>
                        <a:rPr lang="en-US" sz="5400" b="0" kern="1200" baseline="0" dirty="0" smtClean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 Kale  {vharsh2, kale}@</a:t>
                      </a:r>
                      <a:r>
                        <a:rPr lang="en-US" sz="5400" b="0" kern="1200" baseline="0" dirty="0" err="1" smtClean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illinois.edu</a:t>
                      </a:r>
                      <a:endParaRPr lang="en-US" sz="5400" b="0" kern="1200" dirty="0" smtClean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  <a:p>
                      <a:pPr marL="0" algn="ctr" defTabSz="4023360" rtl="0" eaLnBrk="1" latinLnBrk="0" hangingPunct="1"/>
                      <a:endParaRPr lang="en-US" sz="5400" b="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3896" y="1118826"/>
            <a:ext cx="4075780" cy="142218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97478" y="5483425"/>
            <a:ext cx="9090950" cy="1601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905" dirty="0" smtClean="0"/>
              <a:t>Massively parallel applications use </a:t>
            </a:r>
          </a:p>
          <a:p>
            <a:pPr algn="ctr"/>
            <a:r>
              <a:rPr lang="en-US" sz="4905" dirty="0" smtClean="0"/>
              <a:t>parallel sorting</a:t>
            </a:r>
            <a:endParaRPr lang="en-US" sz="4905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476" y="7583276"/>
            <a:ext cx="1702980" cy="170298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52842" y="5309713"/>
            <a:ext cx="10803188" cy="7713223"/>
          </a:xfrm>
          <a:prstGeom prst="roundRect">
            <a:avLst>
              <a:gd name="adj" fmla="val 6684"/>
            </a:avLst>
          </a:prstGeom>
          <a:noFill/>
          <a:ln w="63500">
            <a:round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3498959" y="7624087"/>
            <a:ext cx="772528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charset="0"/>
              <a:buChar char="•"/>
            </a:pPr>
            <a:r>
              <a:rPr lang="en-US" sz="3600" u="sng" dirty="0"/>
              <a:t>Cha</a:t>
            </a:r>
            <a:r>
              <a:rPr lang="en-US" sz="3600" dirty="0"/>
              <a:t>rm </a:t>
            </a:r>
            <a:r>
              <a:rPr lang="en-US" sz="3600" u="sng" dirty="0"/>
              <a:t>N</a:t>
            </a:r>
            <a:r>
              <a:rPr lang="en-US" sz="3600" dirty="0"/>
              <a:t>-body </a:t>
            </a:r>
            <a:r>
              <a:rPr lang="en-US" sz="3600" u="sng" dirty="0" err="1"/>
              <a:t>G</a:t>
            </a:r>
            <a:r>
              <a:rPr lang="en-US" sz="3600" dirty="0" err="1"/>
              <a:t>r</a:t>
            </a:r>
            <a:r>
              <a:rPr lang="en-US" sz="3600" u="sng" dirty="0" err="1"/>
              <a:t>A</a:t>
            </a:r>
            <a:r>
              <a:rPr lang="en-US" sz="3600" dirty="0" err="1"/>
              <a:t>vity</a:t>
            </a:r>
            <a:r>
              <a:rPr lang="en-US" sz="3600" dirty="0"/>
              <a:t> solver</a:t>
            </a:r>
            <a:endParaRPr lang="en-US" sz="3500" dirty="0" smtClean="0"/>
          </a:p>
          <a:p>
            <a:pPr marL="571500" indent="-571500">
              <a:buFont typeface="Arial" charset="0"/>
              <a:buChar char="•"/>
            </a:pPr>
            <a:r>
              <a:rPr lang="en-US" sz="3500" dirty="0" smtClean="0"/>
              <a:t>Cosmological N-body simulations </a:t>
            </a:r>
          </a:p>
          <a:p>
            <a:pPr marL="571500" indent="-571500">
              <a:buFont typeface="Arial" charset="0"/>
              <a:buChar char="•"/>
            </a:pPr>
            <a:r>
              <a:rPr lang="en-US" sz="3500" dirty="0" smtClean="0"/>
              <a:t>Parallel sorting in every iteration</a:t>
            </a:r>
            <a:endParaRPr lang="en-US" sz="3500" dirty="0"/>
          </a:p>
        </p:txBody>
      </p:sp>
      <p:sp>
        <p:nvSpPr>
          <p:cNvPr id="38" name="TextBox 37"/>
          <p:cNvSpPr txBox="1"/>
          <p:nvPr/>
        </p:nvSpPr>
        <p:spPr>
          <a:xfrm>
            <a:off x="8291459" y="10669864"/>
            <a:ext cx="2555508" cy="1001043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5905" dirty="0" smtClean="0"/>
              <a:t>CHARM</a:t>
            </a:r>
            <a:endParaRPr lang="en-US" sz="5905" dirty="0"/>
          </a:p>
        </p:txBody>
      </p:sp>
      <p:sp>
        <p:nvSpPr>
          <p:cNvPr id="39" name="TextBox 38"/>
          <p:cNvSpPr txBox="1"/>
          <p:nvPr/>
        </p:nvSpPr>
        <p:spPr>
          <a:xfrm>
            <a:off x="1089079" y="10257051"/>
            <a:ext cx="7668053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charset="0"/>
              <a:buChar char="•"/>
            </a:pPr>
            <a:r>
              <a:rPr lang="en-US" sz="3500" dirty="0" smtClean="0"/>
              <a:t>Cosmology </a:t>
            </a:r>
            <a:r>
              <a:rPr lang="en-US" sz="3500" dirty="0"/>
              <a:t>code based on </a:t>
            </a:r>
            <a:r>
              <a:rPr lang="en-US" sz="3500" dirty="0" err="1" smtClean="0"/>
              <a:t>Chombo</a:t>
            </a:r>
            <a:r>
              <a:rPr lang="en-US" sz="3500" dirty="0" smtClean="0"/>
              <a:t> </a:t>
            </a:r>
          </a:p>
          <a:p>
            <a:pPr marL="571500" indent="-571500">
              <a:buFont typeface="Arial" charset="0"/>
              <a:buChar char="•"/>
            </a:pPr>
            <a:r>
              <a:rPr lang="en-US" sz="3500" dirty="0" smtClean="0"/>
              <a:t>Global </a:t>
            </a:r>
            <a:r>
              <a:rPr lang="en-US" sz="3500" dirty="0"/>
              <a:t>sorting every </a:t>
            </a:r>
            <a:r>
              <a:rPr lang="en-US" sz="3500" dirty="0" smtClean="0"/>
              <a:t>step for load balancing and locality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97478" y="18099318"/>
            <a:ext cx="7629076" cy="16019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905" dirty="0" smtClean="0"/>
              <a:t>Parallel sorting : Skeleton for </a:t>
            </a:r>
          </a:p>
          <a:p>
            <a:pPr algn="ctr"/>
            <a:r>
              <a:rPr lang="en-US" sz="4905" dirty="0" smtClean="0"/>
              <a:t>many algorithms</a:t>
            </a:r>
            <a:endParaRPr lang="en-US" sz="4905" dirty="0"/>
          </a:p>
        </p:txBody>
      </p:sp>
      <p:sp>
        <p:nvSpPr>
          <p:cNvPr id="96" name="Rounded Rectangle 95"/>
          <p:cNvSpPr/>
          <p:nvPr/>
        </p:nvSpPr>
        <p:spPr>
          <a:xfrm>
            <a:off x="652842" y="18033180"/>
            <a:ext cx="10803188" cy="7713223"/>
          </a:xfrm>
          <a:prstGeom prst="roundRect">
            <a:avLst>
              <a:gd name="adj" fmla="val 6684"/>
            </a:avLst>
          </a:prstGeom>
          <a:noFill/>
          <a:ln w="63500">
            <a:round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/>
          <p:cNvSpPr txBox="1"/>
          <p:nvPr/>
        </p:nvSpPr>
        <p:spPr>
          <a:xfrm>
            <a:off x="1431556" y="19916257"/>
            <a:ext cx="9356872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charset="0"/>
              <a:buChar char="•"/>
            </a:pPr>
            <a:r>
              <a:rPr lang="en-US" sz="3500" dirty="0" smtClean="0"/>
              <a:t>p processors, N/p keys in each processor</a:t>
            </a:r>
            <a:endParaRPr lang="en-US" sz="3500" dirty="0"/>
          </a:p>
          <a:p>
            <a:pPr marL="571500" indent="-571500">
              <a:buFont typeface="Arial" charset="0"/>
              <a:buChar char="•"/>
            </a:pPr>
            <a:endParaRPr lang="en-US" sz="3500" dirty="0"/>
          </a:p>
          <a:p>
            <a:pPr marL="571500" indent="-571500">
              <a:buFont typeface="Arial" charset="0"/>
              <a:buChar char="•"/>
            </a:pPr>
            <a:r>
              <a:rPr lang="en-US" sz="3500" dirty="0" smtClean="0"/>
              <a:t> Determine  (p-1) splitter keys to partition the keys into p buckets, one for each processor.  Make these splitters available to all processors.</a:t>
            </a:r>
          </a:p>
          <a:p>
            <a:pPr marL="571500" indent="-571500">
              <a:buFont typeface="Arial" charset="0"/>
              <a:buChar char="•"/>
            </a:pPr>
            <a:endParaRPr lang="en-US" sz="3500" dirty="0" smtClean="0"/>
          </a:p>
          <a:p>
            <a:pPr marL="571500" indent="-571500">
              <a:buFont typeface="Arial" charset="0"/>
              <a:buChar char="•"/>
            </a:pPr>
            <a:r>
              <a:rPr lang="en-US" sz="3500" dirty="0" smtClean="0"/>
              <a:t>Send all keys to destination processor  depending on the which bucket if falls in.</a:t>
            </a:r>
          </a:p>
          <a:p>
            <a:pPr marL="571500" indent="-571500">
              <a:buFont typeface="Arial" charset="0"/>
              <a:buChar char="•"/>
            </a:pPr>
            <a:endParaRPr lang="en-US" sz="3500" dirty="0"/>
          </a:p>
          <a:p>
            <a:pPr marL="571500" indent="-571500">
              <a:buFont typeface="Arial" charset="0"/>
              <a:buChar char="•"/>
            </a:pPr>
            <a:r>
              <a:rPr lang="en-US" sz="3500" dirty="0" smtClean="0"/>
              <a:t>E.g. sample sort, histogram sort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618371" y="13589853"/>
            <a:ext cx="5703677" cy="8471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905" dirty="0" smtClean="0"/>
              <a:t>Parallel sorting: Goals</a:t>
            </a:r>
            <a:endParaRPr lang="en-US" sz="4905" dirty="0"/>
          </a:p>
        </p:txBody>
      </p:sp>
      <p:sp>
        <p:nvSpPr>
          <p:cNvPr id="101" name="Rounded Rectangle 100"/>
          <p:cNvSpPr/>
          <p:nvPr/>
        </p:nvSpPr>
        <p:spPr>
          <a:xfrm>
            <a:off x="652842" y="13465118"/>
            <a:ext cx="10803188" cy="3987984"/>
          </a:xfrm>
          <a:prstGeom prst="roundRect">
            <a:avLst>
              <a:gd name="adj" fmla="val 6684"/>
            </a:avLst>
          </a:prstGeom>
          <a:noFill/>
          <a:ln w="63500">
            <a:round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TextBox 101"/>
          <p:cNvSpPr txBox="1"/>
          <p:nvPr/>
        </p:nvSpPr>
        <p:spPr>
          <a:xfrm>
            <a:off x="1230716" y="14667723"/>
            <a:ext cx="10024474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charset="0"/>
              <a:buChar char="•"/>
            </a:pPr>
            <a:r>
              <a:rPr lang="en-US" sz="3500" dirty="0" smtClean="0"/>
              <a:t>Load balance after sorting</a:t>
            </a:r>
          </a:p>
          <a:p>
            <a:pPr marL="571500" indent="-571500">
              <a:buFont typeface="Arial" charset="0"/>
              <a:buChar char="•"/>
            </a:pPr>
            <a:r>
              <a:rPr lang="en-US" sz="3500" dirty="0" smtClean="0"/>
              <a:t>Optimal data movement</a:t>
            </a:r>
          </a:p>
          <a:p>
            <a:pPr marL="571500" indent="-571500">
              <a:buFont typeface="Arial" charset="0"/>
              <a:buChar char="•"/>
            </a:pPr>
            <a:r>
              <a:rPr lang="en-US" sz="3500" dirty="0" smtClean="0"/>
              <a:t>Generality: should work for any inputs</a:t>
            </a:r>
          </a:p>
          <a:p>
            <a:pPr marL="571500" indent="-571500">
              <a:buFont typeface="Arial" charset="0"/>
              <a:buChar char="•"/>
            </a:pPr>
            <a:r>
              <a:rPr lang="en-US" sz="3500" dirty="0" smtClean="0"/>
              <a:t>Scalability and performance for massive clusters</a:t>
            </a:r>
          </a:p>
          <a:p>
            <a:pPr marL="571500" indent="-571500">
              <a:buFont typeface="Arial" charset="0"/>
              <a:buChar char="•"/>
            </a:pPr>
            <a:endParaRPr lang="en-US" sz="3500" dirty="0"/>
          </a:p>
        </p:txBody>
      </p:sp>
      <p:sp>
        <p:nvSpPr>
          <p:cNvPr id="41" name="Rectangle 40"/>
          <p:cNvSpPr/>
          <p:nvPr/>
        </p:nvSpPr>
        <p:spPr>
          <a:xfrm>
            <a:off x="8291459" y="10669864"/>
            <a:ext cx="2496969" cy="1001043"/>
          </a:xfrm>
          <a:prstGeom prst="rect">
            <a:avLst/>
          </a:prstGeom>
          <a:noFill/>
          <a:ln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15700726" y="5641644"/>
            <a:ext cx="8809078" cy="8471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905" dirty="0" smtClean="0"/>
              <a:t>Problems with existing algorithms</a:t>
            </a:r>
            <a:endParaRPr lang="en-US" sz="4905" dirty="0"/>
          </a:p>
        </p:txBody>
      </p:sp>
      <p:sp>
        <p:nvSpPr>
          <p:cNvPr id="105" name="Rounded Rectangle 104"/>
          <p:cNvSpPr/>
          <p:nvPr/>
        </p:nvSpPr>
        <p:spPr>
          <a:xfrm>
            <a:off x="12235137" y="5417287"/>
            <a:ext cx="15656752" cy="6896451"/>
          </a:xfrm>
          <a:prstGeom prst="roundRect">
            <a:avLst>
              <a:gd name="adj" fmla="val 6684"/>
            </a:avLst>
          </a:prstGeom>
          <a:noFill/>
          <a:ln w="63500">
            <a:round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/>
          <p:cNvSpPr txBox="1"/>
          <p:nvPr/>
        </p:nvSpPr>
        <p:spPr>
          <a:xfrm>
            <a:off x="12589908" y="6835315"/>
            <a:ext cx="13927692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charset="0"/>
              <a:buChar char="•"/>
            </a:pPr>
            <a:r>
              <a:rPr lang="en-US" sz="3500" b="1" dirty="0" smtClean="0"/>
              <a:t>Sample sort</a:t>
            </a:r>
            <a:r>
              <a:rPr lang="en-US" sz="3500" dirty="0" smtClean="0"/>
              <a:t>: Pick a sample from the input, choose (p-1) splitters from the sample. Variants: Regular sampling, random sampling. </a:t>
            </a:r>
            <a:r>
              <a:rPr lang="en-US" sz="3500" dirty="0" smtClean="0">
                <a:solidFill>
                  <a:srgbClr val="C00000"/>
                </a:solidFill>
              </a:rPr>
              <a:t> Problem: Required sample size is too large for good splitting</a:t>
            </a:r>
          </a:p>
          <a:p>
            <a:pPr marL="571500" indent="-571500">
              <a:buFont typeface="Arial" charset="0"/>
              <a:buChar char="•"/>
            </a:pPr>
            <a:endParaRPr lang="en-US" sz="3500" dirty="0" smtClean="0"/>
          </a:p>
          <a:p>
            <a:pPr marL="571500" indent="-571500">
              <a:buFont typeface="Arial" charset="0"/>
              <a:buChar char="•"/>
            </a:pPr>
            <a:r>
              <a:rPr lang="en-US" sz="3500" b="1" dirty="0" smtClean="0"/>
              <a:t>Histogram sort:  </a:t>
            </a:r>
            <a:r>
              <a:rPr lang="en-US" sz="3500" dirty="0" smtClean="0"/>
              <a:t>Maintain a set of candidate splitters,  obtain their rank in the local input by performing </a:t>
            </a:r>
            <a:r>
              <a:rPr lang="en-US" sz="3500" dirty="0" err="1" smtClean="0"/>
              <a:t>histogramming</a:t>
            </a:r>
            <a:r>
              <a:rPr lang="en-US" sz="3500" dirty="0" smtClean="0"/>
              <a:t> rounds. Refine candidate keys  every round  till a given threshold. </a:t>
            </a:r>
            <a:r>
              <a:rPr lang="en-US" sz="3500" dirty="0">
                <a:solidFill>
                  <a:srgbClr val="C00000"/>
                </a:solidFill>
              </a:rPr>
              <a:t>Problem</a:t>
            </a:r>
            <a:r>
              <a:rPr lang="en-US" sz="3500" dirty="0" smtClean="0">
                <a:solidFill>
                  <a:srgbClr val="C00000"/>
                </a:solidFill>
              </a:rPr>
              <a:t>: Required number of </a:t>
            </a:r>
            <a:r>
              <a:rPr lang="en-US" sz="3500" dirty="0" err="1" smtClean="0">
                <a:solidFill>
                  <a:srgbClr val="C00000"/>
                </a:solidFill>
              </a:rPr>
              <a:t>histogramming</a:t>
            </a:r>
            <a:r>
              <a:rPr lang="en-US" sz="3500" dirty="0" smtClean="0">
                <a:solidFill>
                  <a:srgbClr val="C00000"/>
                </a:solidFill>
              </a:rPr>
              <a:t> rounds could be large depending upon the input distribution</a:t>
            </a:r>
            <a:endParaRPr lang="en-US" sz="3500" dirty="0" smtClean="0"/>
          </a:p>
          <a:p>
            <a:pPr marL="571500" indent="-571500">
              <a:buFont typeface="Arial" charset="0"/>
              <a:buChar char="•"/>
            </a:pPr>
            <a:endParaRPr lang="en-US" sz="3500" dirty="0" smtClean="0"/>
          </a:p>
        </p:txBody>
      </p:sp>
      <p:sp>
        <p:nvSpPr>
          <p:cNvPr id="107" name="TextBox 106"/>
          <p:cNvSpPr txBox="1"/>
          <p:nvPr/>
        </p:nvSpPr>
        <p:spPr>
          <a:xfrm>
            <a:off x="13493452" y="13308188"/>
            <a:ext cx="13106216" cy="854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950" dirty="0" smtClean="0"/>
              <a:t>Our approach:</a:t>
            </a:r>
            <a:r>
              <a:rPr lang="en-US" sz="4950" b="1" dirty="0"/>
              <a:t> </a:t>
            </a:r>
            <a:r>
              <a:rPr lang="en-US" sz="4950" dirty="0"/>
              <a:t>Histogram sort with sampling (HSS</a:t>
            </a:r>
            <a:r>
              <a:rPr lang="en-US" sz="4950" dirty="0" smtClean="0"/>
              <a:t>)</a:t>
            </a:r>
            <a:endParaRPr lang="en-US" sz="4950" dirty="0"/>
          </a:p>
        </p:txBody>
      </p:sp>
      <p:sp>
        <p:nvSpPr>
          <p:cNvPr id="108" name="Rounded Rectangle 107"/>
          <p:cNvSpPr/>
          <p:nvPr/>
        </p:nvSpPr>
        <p:spPr>
          <a:xfrm>
            <a:off x="12201232" y="13006769"/>
            <a:ext cx="15690657" cy="16050831"/>
          </a:xfrm>
          <a:prstGeom prst="roundRect">
            <a:avLst>
              <a:gd name="adj" fmla="val 6684"/>
            </a:avLst>
          </a:prstGeom>
          <a:noFill/>
          <a:ln w="63500">
            <a:round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/>
          <p:cNvSpPr txBox="1"/>
          <p:nvPr/>
        </p:nvSpPr>
        <p:spPr>
          <a:xfrm>
            <a:off x="12556004" y="14424797"/>
            <a:ext cx="13927692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charset="0"/>
              <a:buChar char="•"/>
            </a:pPr>
            <a:r>
              <a:rPr lang="en-US" sz="3500" b="1" dirty="0" smtClean="0"/>
              <a:t>Key Idea:   </a:t>
            </a:r>
            <a:r>
              <a:rPr lang="en-US" sz="3500" dirty="0" smtClean="0"/>
              <a:t>Sample keys before every </a:t>
            </a:r>
            <a:r>
              <a:rPr lang="en-US" sz="3500" dirty="0" err="1" smtClean="0"/>
              <a:t>histogramming</a:t>
            </a:r>
            <a:r>
              <a:rPr lang="en-US" sz="3500" dirty="0" smtClean="0"/>
              <a:t> round.  Use information from previous rounds to sample intelligently.</a:t>
            </a:r>
          </a:p>
          <a:p>
            <a:pPr marL="571500" indent="-571500">
              <a:buFont typeface="Arial" charset="0"/>
              <a:buChar char="•"/>
            </a:pPr>
            <a:r>
              <a:rPr lang="en-US" sz="3500" dirty="0" smtClean="0"/>
              <a:t>By performing </a:t>
            </a:r>
            <a:r>
              <a:rPr lang="en-US" sz="3500" dirty="0" err="1" smtClean="0"/>
              <a:t>histogramming</a:t>
            </a:r>
            <a:r>
              <a:rPr lang="en-US" sz="3500" dirty="0" smtClean="0"/>
              <a:t> on the sample, HSS reduces the sample size requirements of sample sort by multiple orders of magnitude.</a:t>
            </a:r>
          </a:p>
          <a:p>
            <a:pPr marL="571500" indent="-571500">
              <a:buFont typeface="Arial" charset="0"/>
              <a:buChar char="•"/>
            </a:pPr>
            <a:endParaRPr lang="en-US" sz="3500" dirty="0" smtClean="0"/>
          </a:p>
        </p:txBody>
      </p:sp>
      <p:sp>
        <p:nvSpPr>
          <p:cNvPr id="113" name="TextBox 112"/>
          <p:cNvSpPr txBox="1"/>
          <p:nvPr/>
        </p:nvSpPr>
        <p:spPr>
          <a:xfrm>
            <a:off x="29270070" y="5641644"/>
            <a:ext cx="9779606" cy="1601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905" dirty="0" smtClean="0"/>
              <a:t>HSS is theoretically more efficient than sample sort</a:t>
            </a:r>
            <a:endParaRPr lang="en-US" sz="4905" dirty="0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8155" y="7243621"/>
            <a:ext cx="10058400" cy="3934621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28991880" y="11459658"/>
            <a:ext cx="1076706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dirty="0" smtClean="0"/>
              <a:t>Table 1: Running time complexity and comparison of required sample sizes of  HSS and sample sort. </a:t>
            </a:r>
            <a:endParaRPr lang="en-US" sz="3500" dirty="0"/>
          </a:p>
        </p:txBody>
      </p:sp>
      <p:sp>
        <p:nvSpPr>
          <p:cNvPr id="124" name="TextBox 123"/>
          <p:cNvSpPr txBox="1"/>
          <p:nvPr/>
        </p:nvSpPr>
        <p:spPr>
          <a:xfrm>
            <a:off x="32672927" y="21244518"/>
            <a:ext cx="2973892" cy="8471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905" dirty="0" smtClean="0"/>
              <a:t>Conclusion</a:t>
            </a:r>
            <a:endParaRPr lang="en-US" sz="4905" dirty="0"/>
          </a:p>
        </p:txBody>
      </p:sp>
      <p:sp>
        <p:nvSpPr>
          <p:cNvPr id="125" name="Rounded Rectangle 124"/>
          <p:cNvSpPr/>
          <p:nvPr/>
        </p:nvSpPr>
        <p:spPr>
          <a:xfrm>
            <a:off x="28837931" y="21112885"/>
            <a:ext cx="10803188" cy="7944715"/>
          </a:xfrm>
          <a:prstGeom prst="roundRect">
            <a:avLst>
              <a:gd name="adj" fmla="val 6684"/>
            </a:avLst>
          </a:prstGeom>
          <a:noFill/>
          <a:ln w="63500">
            <a:round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5"/>
          <p:cNvSpPr txBox="1"/>
          <p:nvPr/>
        </p:nvSpPr>
        <p:spPr>
          <a:xfrm>
            <a:off x="29145668" y="22223305"/>
            <a:ext cx="9896203" cy="657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charset="0"/>
              <a:buChar char="•"/>
            </a:pPr>
            <a:r>
              <a:rPr lang="en-US" sz="3500" dirty="0" smtClean="0"/>
              <a:t>HSS combines </a:t>
            </a:r>
            <a:r>
              <a:rPr lang="en-US" sz="3500" dirty="0" err="1" smtClean="0"/>
              <a:t>histogramming</a:t>
            </a:r>
            <a:r>
              <a:rPr lang="en-US" sz="3500" dirty="0" smtClean="0"/>
              <a:t> and sampling to achieve fast splitter determination</a:t>
            </a:r>
          </a:p>
          <a:p>
            <a:pPr marL="571500" indent="-571500">
              <a:buFont typeface="Arial" charset="0"/>
              <a:buChar char="•"/>
            </a:pPr>
            <a:r>
              <a:rPr lang="en-US" sz="3500" dirty="0" smtClean="0"/>
              <a:t>HSS is extremely practical for massively parallel applications</a:t>
            </a:r>
          </a:p>
          <a:p>
            <a:pPr marL="571500" indent="-571500">
              <a:buFont typeface="Arial" charset="0"/>
              <a:buChar char="•"/>
            </a:pPr>
            <a:endParaRPr lang="en-US" sz="3500" dirty="0" smtClean="0"/>
          </a:p>
          <a:p>
            <a:pPr marL="571500" indent="-571500">
              <a:buFont typeface="Wingdings" charset="2"/>
              <a:buChar char="§"/>
            </a:pPr>
            <a:r>
              <a:rPr lang="en-US" sz="3500" b="1" dirty="0" smtClean="0">
                <a:solidFill>
                  <a:schemeClr val="tx2"/>
                </a:solidFill>
              </a:rPr>
              <a:t>Future Work</a:t>
            </a:r>
          </a:p>
          <a:p>
            <a:pPr marL="2325479" lvl="1" indent="-571500">
              <a:buFont typeface="LucidaGrande" charset="0"/>
              <a:buChar char="→"/>
            </a:pPr>
            <a:r>
              <a:rPr lang="en-US" altLang="zh-CN" sz="3600" dirty="0">
                <a:solidFill>
                  <a:schemeClr val="tx2"/>
                </a:solidFill>
                <a:latin typeface="Garamond" panose="02020404030301010803" pitchFamily="18" charset="0"/>
                <a:ea typeface="SimSun" pitchFamily="2" charset="-122"/>
              </a:rPr>
              <a:t>Integration </a:t>
            </a:r>
            <a:r>
              <a:rPr lang="en-US" altLang="zh-CN" sz="3600" dirty="0" smtClean="0">
                <a:solidFill>
                  <a:schemeClr val="tx2"/>
                </a:solidFill>
                <a:latin typeface="Garamond" panose="02020404030301010803" pitchFamily="18" charset="0"/>
                <a:ea typeface="SimSun" pitchFamily="2" charset="-122"/>
              </a:rPr>
              <a:t>in </a:t>
            </a:r>
            <a:r>
              <a:rPr lang="en-US" altLang="zh-CN" sz="3600" dirty="0">
                <a:solidFill>
                  <a:schemeClr val="tx2"/>
                </a:solidFill>
                <a:latin typeface="Garamond" panose="02020404030301010803" pitchFamily="18" charset="0"/>
                <a:ea typeface="SimSun" pitchFamily="2" charset="-122"/>
              </a:rPr>
              <a:t>real </a:t>
            </a:r>
            <a:r>
              <a:rPr lang="en-US" altLang="zh-CN" sz="3600" dirty="0" smtClean="0">
                <a:solidFill>
                  <a:schemeClr val="tx2"/>
                </a:solidFill>
                <a:latin typeface="Garamond" panose="02020404030301010803" pitchFamily="18" charset="0"/>
                <a:ea typeface="SimSun" pitchFamily="2" charset="-122"/>
              </a:rPr>
              <a:t>applications; </a:t>
            </a:r>
            <a:r>
              <a:rPr lang="en-US" altLang="zh-CN" sz="3600" dirty="0" err="1" smtClean="0">
                <a:solidFill>
                  <a:schemeClr val="tx2"/>
                </a:solidFill>
                <a:latin typeface="Garamond" panose="02020404030301010803" pitchFamily="18" charset="0"/>
                <a:ea typeface="SimSun" pitchFamily="2" charset="-122"/>
              </a:rPr>
              <a:t>ChaNGa</a:t>
            </a:r>
            <a:endParaRPr lang="en-US" altLang="zh-CN" sz="3600" dirty="0">
              <a:latin typeface="Garamond" panose="02020404030301010803" pitchFamily="18" charset="0"/>
              <a:ea typeface="SimSun" pitchFamily="2" charset="-122"/>
            </a:endParaRPr>
          </a:p>
          <a:p>
            <a:pPr marL="571500" indent="-571500">
              <a:buFont typeface="Wingdings" charset="2"/>
              <a:buChar char="§"/>
            </a:pPr>
            <a:r>
              <a:rPr lang="en-US" sz="3500" b="1" dirty="0" smtClean="0">
                <a:solidFill>
                  <a:schemeClr val="tx2"/>
                </a:solidFill>
              </a:rPr>
              <a:t>Details</a:t>
            </a:r>
            <a:r>
              <a:rPr lang="en-US" sz="3500" dirty="0" smtClean="0">
                <a:hlinkClick r:id="rId7"/>
              </a:rPr>
              <a:t>:vharsh2.web.engr.illinois.edu/projects/parsort/prelimreport.pdf</a:t>
            </a:r>
            <a:endParaRPr lang="en-US" sz="3500" dirty="0"/>
          </a:p>
          <a:p>
            <a:pPr marL="571500" indent="-571500">
              <a:buFont typeface="Wingdings" charset="2"/>
              <a:buChar char="§"/>
            </a:pPr>
            <a:r>
              <a:rPr lang="en-US" sz="3500" b="1" dirty="0">
                <a:solidFill>
                  <a:schemeClr val="tx2"/>
                </a:solidFill>
              </a:rPr>
              <a:t>Acknowledgements</a:t>
            </a:r>
            <a:r>
              <a:rPr lang="en-US" sz="3500" dirty="0"/>
              <a:t>: Edgar </a:t>
            </a:r>
            <a:r>
              <a:rPr lang="en-US" sz="3500" dirty="0" err="1"/>
              <a:t>Solomnik</a:t>
            </a:r>
            <a:r>
              <a:rPr lang="en-US" sz="3500" dirty="0"/>
              <a:t>, </a:t>
            </a:r>
            <a:r>
              <a:rPr lang="en-US" sz="3500" dirty="0" err="1"/>
              <a:t>Omkar</a:t>
            </a:r>
            <a:r>
              <a:rPr lang="en-US" sz="3500" dirty="0"/>
              <a:t> </a:t>
            </a:r>
            <a:r>
              <a:rPr lang="en-US" sz="3500" dirty="0" err="1"/>
              <a:t>Thakoor</a:t>
            </a:r>
            <a:r>
              <a:rPr lang="en-US" sz="3500" dirty="0"/>
              <a:t>, </a:t>
            </a:r>
            <a:r>
              <a:rPr lang="en-US" sz="3500" dirty="0" err="1"/>
              <a:t>Umang</a:t>
            </a:r>
            <a:r>
              <a:rPr lang="en-US" sz="3500" dirty="0"/>
              <a:t> </a:t>
            </a:r>
            <a:r>
              <a:rPr lang="en-US" sz="3500" dirty="0" err="1"/>
              <a:t>Mathur</a:t>
            </a:r>
            <a:endParaRPr lang="en-US" sz="3500" dirty="0"/>
          </a:p>
          <a:p>
            <a:pPr marL="571500" indent="-571500">
              <a:buFont typeface="Arial" charset="0"/>
              <a:buChar char="•"/>
            </a:pPr>
            <a:endParaRPr lang="en-US" sz="3500" dirty="0" smtClean="0"/>
          </a:p>
        </p:txBody>
      </p:sp>
      <p:sp>
        <p:nvSpPr>
          <p:cNvPr id="128" name="Rounded Rectangle 127"/>
          <p:cNvSpPr/>
          <p:nvPr/>
        </p:nvSpPr>
        <p:spPr>
          <a:xfrm>
            <a:off x="28955761" y="5387971"/>
            <a:ext cx="10803188" cy="8077147"/>
          </a:xfrm>
          <a:prstGeom prst="roundRect">
            <a:avLst>
              <a:gd name="adj" fmla="val 6684"/>
            </a:avLst>
          </a:prstGeom>
          <a:noFill/>
          <a:ln w="63500">
            <a:round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/>
          <p:cNvSpPr txBox="1"/>
          <p:nvPr/>
        </p:nvSpPr>
        <p:spPr>
          <a:xfrm>
            <a:off x="29328155" y="14115444"/>
            <a:ext cx="9779606" cy="847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905" dirty="0" smtClean="0"/>
              <a:t>HSS in practice</a:t>
            </a:r>
            <a:endParaRPr lang="en-US" sz="4905" dirty="0"/>
          </a:p>
        </p:txBody>
      </p:sp>
      <p:sp>
        <p:nvSpPr>
          <p:cNvPr id="140" name="Rounded Rectangle 139"/>
          <p:cNvSpPr/>
          <p:nvPr/>
        </p:nvSpPr>
        <p:spPr>
          <a:xfrm>
            <a:off x="28811715" y="14048430"/>
            <a:ext cx="10803188" cy="6402519"/>
          </a:xfrm>
          <a:prstGeom prst="roundRect">
            <a:avLst>
              <a:gd name="adj" fmla="val 6684"/>
            </a:avLst>
          </a:prstGeom>
          <a:noFill/>
          <a:ln w="63500">
            <a:round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6819" y="14779802"/>
            <a:ext cx="3564398" cy="2673299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5668" y="14737690"/>
            <a:ext cx="3527259" cy="2645444"/>
          </a:xfrm>
          <a:prstGeom prst="rect">
            <a:avLst/>
          </a:prstGeom>
        </p:spPr>
      </p:pic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68644"/>
              </p:ext>
            </p:extLst>
          </p:nvPr>
        </p:nvGraphicFramePr>
        <p:xfrm>
          <a:off x="32358505" y="17409582"/>
          <a:ext cx="3602736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512"/>
                <a:gridCol w="1024128"/>
                <a:gridCol w="877824"/>
                <a:gridCol w="1033272"/>
              </a:tblGrid>
              <a:tr h="730360">
                <a:tc>
                  <a:txBody>
                    <a:bodyPr/>
                    <a:lstStyle/>
                    <a:p>
                      <a:r>
                        <a:rPr lang="en-US" sz="1500" b="0" i="0" dirty="0" smtClean="0">
                          <a:solidFill>
                            <a:schemeClr val="lt1"/>
                          </a:solidFill>
                        </a:rPr>
                        <a:t>p</a:t>
                      </a:r>
                      <a:r>
                        <a:rPr lang="en-US" sz="1500" b="0" i="0" baseline="0" dirty="0" smtClean="0">
                          <a:solidFill>
                            <a:schemeClr val="lt1"/>
                          </a:solidFill>
                        </a:rPr>
                        <a:t> (x 1000)</a:t>
                      </a:r>
                      <a:endParaRPr lang="en-US" sz="1500" b="0" i="0" dirty="0">
                        <a:solidFill>
                          <a:schemeClr val="lt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500" b="0" i="0" dirty="0" smtClean="0">
                          <a:solidFill>
                            <a:schemeClr val="lt1"/>
                          </a:solidFill>
                        </a:rPr>
                        <a:t>sample size/round (x p)</a:t>
                      </a:r>
                      <a:endParaRPr lang="en-US" sz="1500" b="0" i="0" dirty="0">
                        <a:solidFill>
                          <a:schemeClr val="lt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500" b="0" i="0" dirty="0" smtClean="0">
                          <a:solidFill>
                            <a:schemeClr val="lt1"/>
                          </a:solidFill>
                        </a:rPr>
                        <a:t>Number of rounds</a:t>
                      </a:r>
                      <a:endParaRPr lang="en-US" sz="1500" b="0" i="0" dirty="0">
                        <a:solidFill>
                          <a:schemeClr val="lt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500" b="0" i="0" dirty="0" smtClean="0">
                          <a:solidFill>
                            <a:schemeClr val="lt1"/>
                          </a:solidFill>
                        </a:rPr>
                        <a:t>Bound</a:t>
                      </a:r>
                      <a:r>
                        <a:rPr lang="en-US" sz="1500" b="0" i="0" baseline="0" dirty="0" smtClean="0">
                          <a:solidFill>
                            <a:schemeClr val="lt1"/>
                          </a:solidFill>
                        </a:rPr>
                        <a:t> on number of rounds</a:t>
                      </a:r>
                      <a:endParaRPr lang="en-US" sz="1500" b="0" i="0" dirty="0">
                        <a:solidFill>
                          <a:schemeClr val="lt1"/>
                        </a:solidFill>
                      </a:endParaRPr>
                    </a:p>
                  </a:txBody>
                  <a:tcPr anchor="ctr" anchorCtr="1"/>
                </a:tc>
              </a:tr>
              <a:tr h="300737">
                <a:tc>
                  <a:txBody>
                    <a:bodyPr/>
                    <a:lstStyle/>
                    <a:p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5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</a:tr>
              <a:tr h="300737">
                <a:tc>
                  <a:txBody>
                    <a:bodyPr/>
                    <a:lstStyle/>
                    <a:p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5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5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</a:tr>
              <a:tr h="300737">
                <a:tc>
                  <a:txBody>
                    <a:bodyPr/>
                    <a:lstStyle/>
                    <a:p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5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5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</a:tr>
              <a:tr h="300737">
                <a:tc>
                  <a:txBody>
                    <a:bodyPr/>
                    <a:lstStyle/>
                    <a:p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32</a:t>
                      </a:r>
                      <a:endParaRPr lang="en-US" sz="15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5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500" baseline="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50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32306654" y="19659252"/>
            <a:ext cx="392876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 smtClean="0"/>
              <a:t>Table 2: Number of rounds required for determining all splitters (experimentally)</a:t>
            </a:r>
            <a:endParaRPr lang="en-US" sz="1700" dirty="0"/>
          </a:p>
        </p:txBody>
      </p:sp>
      <p:sp>
        <p:nvSpPr>
          <p:cNvPr id="53" name="TextBox 52"/>
          <p:cNvSpPr txBox="1"/>
          <p:nvPr/>
        </p:nvSpPr>
        <p:spPr>
          <a:xfrm>
            <a:off x="29437137" y="17383134"/>
            <a:ext cx="2861202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 smtClean="0"/>
              <a:t>Fig 2: HSS vs Sample sort: sample size required for splitting, </a:t>
            </a:r>
            <a:r>
              <a:rPr lang="en-US" sz="1800" dirty="0" err="1" smtClean="0"/>
              <a:t>ε</a:t>
            </a:r>
            <a:r>
              <a:rPr lang="en-US" sz="1800" dirty="0" smtClean="0"/>
              <a:t> = 5%</a:t>
            </a:r>
            <a:endParaRPr lang="en-US" sz="1700" dirty="0"/>
          </a:p>
        </p:txBody>
      </p:sp>
      <p:sp>
        <p:nvSpPr>
          <p:cNvPr id="146" name="TextBox 145"/>
          <p:cNvSpPr txBox="1"/>
          <p:nvPr/>
        </p:nvSpPr>
        <p:spPr>
          <a:xfrm>
            <a:off x="36021407" y="17409582"/>
            <a:ext cx="286120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 smtClean="0"/>
              <a:t>Fig 3: HSS on Mira(ALCF) BG/Q. Each processor had 1 million 8 byte keys with a 4 byte payload with each key</a:t>
            </a:r>
            <a:endParaRPr lang="en-US" sz="1700" dirty="0"/>
          </a:p>
        </p:txBody>
      </p:sp>
      <p:sp>
        <p:nvSpPr>
          <p:cNvPr id="56" name="TextBox 55"/>
          <p:cNvSpPr txBox="1"/>
          <p:nvPr/>
        </p:nvSpPr>
        <p:spPr>
          <a:xfrm>
            <a:off x="32566418" y="15113723"/>
            <a:ext cx="2815781" cy="1661993"/>
          </a:xfrm>
          <a:prstGeom prst="rect">
            <a:avLst/>
          </a:prstGeom>
          <a:noFill/>
          <a:ln w="28575" cap="rnd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700" dirty="0" err="1" smtClean="0"/>
              <a:t>Histogramming</a:t>
            </a:r>
            <a:r>
              <a:rPr lang="en-US" sz="1700" dirty="0" smtClean="0"/>
              <a:t> takes very little fraction of the running time, which is dominated by local sorting and data exchange, both of which are inherent costs!</a:t>
            </a:r>
            <a:endParaRPr lang="en-US" sz="1700" dirty="0"/>
          </a:p>
        </p:txBody>
      </p:sp>
      <p:cxnSp>
        <p:nvCxnSpPr>
          <p:cNvPr id="60" name="Straight Connector 59"/>
          <p:cNvCxnSpPr/>
          <p:nvPr/>
        </p:nvCxnSpPr>
        <p:spPr>
          <a:xfrm flipH="1">
            <a:off x="35191701" y="15624535"/>
            <a:ext cx="769540" cy="1"/>
          </a:xfrm>
          <a:prstGeom prst="line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Picture 7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5856" y="19091294"/>
            <a:ext cx="15309257" cy="3739911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2675034" y="16953163"/>
            <a:ext cx="1469571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 smtClean="0"/>
              <a:t>Overview:</a:t>
            </a:r>
            <a:r>
              <a:rPr lang="en-US" sz="3500" dirty="0" smtClean="0"/>
              <a:t> HSS maintains '</a:t>
            </a:r>
            <a:r>
              <a:rPr lang="en-US" sz="3500" dirty="0"/>
              <a:t>'</a:t>
            </a:r>
            <a:r>
              <a:rPr lang="en-US" sz="3500" dirty="0" smtClean="0"/>
              <a:t>splitter intervals</a:t>
            </a:r>
            <a:r>
              <a:rPr lang="en-US" sz="3500" dirty="0"/>
              <a:t>'</a:t>
            </a:r>
            <a:r>
              <a:rPr lang="en-US" sz="3500" dirty="0" smtClean="0"/>
              <a:t>' for all splitter keys. A splitter interval marks the nearest key seen so far, both smaller (left) and greater (right) than the ideal splitter. </a:t>
            </a:r>
            <a:r>
              <a:rPr lang="en-US" sz="3500" dirty="0" err="1"/>
              <a:t>ε</a:t>
            </a:r>
            <a:r>
              <a:rPr lang="en-US" sz="3500" dirty="0"/>
              <a:t>  is the maximum load imbalance permitted by the application.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805796" y="22957998"/>
            <a:ext cx="142732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 smtClean="0"/>
              <a:t>Fig 1: </a:t>
            </a:r>
            <a:r>
              <a:rPr lang="en-US" sz="3600" dirty="0"/>
              <a:t>Figure illustrating </a:t>
            </a:r>
            <a:r>
              <a:rPr lang="en-US" sz="3600" dirty="0" smtClean="0"/>
              <a:t>HSS with </a:t>
            </a:r>
            <a:r>
              <a:rPr lang="en-US" sz="3600" dirty="0"/>
              <a:t>multiple rounds. After first round, samples are picked only from the splitter intervals. </a:t>
            </a:r>
            <a:r>
              <a:rPr lang="en-US" sz="3600" dirty="0" smtClean="0"/>
              <a:t>Notice </a:t>
            </a:r>
            <a:r>
              <a:rPr lang="en-US" sz="3600" dirty="0"/>
              <a:t>how the splitter intervals shrink as the algorithm progresses.</a:t>
            </a:r>
            <a:r>
              <a:rPr lang="en-US" sz="3500" dirty="0" smtClean="0"/>
              <a:t> </a:t>
            </a:r>
            <a:endParaRPr lang="en-US" sz="3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/>
              <p:cNvSpPr txBox="1"/>
              <p:nvPr/>
            </p:nvSpPr>
            <p:spPr>
              <a:xfrm>
                <a:off x="12675033" y="24593614"/>
                <a:ext cx="14695715" cy="23603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charset="0"/>
                  <a:buChar char="•"/>
                </a:pPr>
                <a:endParaRPr lang="en-US" sz="3500" dirty="0" smtClean="0"/>
              </a:p>
              <a:p>
                <a:pPr marL="457200" indent="-457200">
                  <a:buFont typeface="Arial" charset="0"/>
                  <a:buChar char="•"/>
                </a:pPr>
                <a:r>
                  <a:rPr lang="en-US" sz="3500" dirty="0" smtClean="0"/>
                  <a:t>In general, for HSS with k rounds, sample required per round is O(p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uk-UA" sz="3500" i="1" smtClean="0">
                            <a:latin typeface="Cambria Math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US" sz="3500" b="0" i="1" smtClean="0">
                            <a:latin typeface="Cambria Math" charset="0"/>
                          </a:rPr>
                          <m:t>𝑘</m:t>
                        </m:r>
                      </m:deg>
                      <m:e>
                        <m:r>
                          <m:rPr>
                            <m:sty m:val="p"/>
                          </m:rPr>
                          <a:rPr lang="en-US" sz="3500" b="0" i="0" smtClean="0">
                            <a:latin typeface="Cambria Math" charset="0"/>
                          </a:rPr>
                          <m:t>logp</m:t>
                        </m:r>
                        <m:r>
                          <a:rPr lang="en-US" sz="3500" b="0" i="1" smtClean="0">
                            <a:latin typeface="Cambria Math" charset="0"/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sz="3500" dirty="0"/>
                          <m:t>ε</m:t>
                        </m:r>
                      </m:e>
                    </m:rad>
                  </m:oMath>
                </a14:m>
                <a:r>
                  <a:rPr lang="en-US" sz="3500" dirty="0" smtClean="0"/>
                  <a:t>) </a:t>
                </a:r>
              </a:p>
              <a:p>
                <a:pPr marL="457200" indent="-457200">
                  <a:buFont typeface="Arial" charset="0"/>
                  <a:buChar char="•"/>
                </a:pPr>
                <a:r>
                  <a:rPr lang="en-US" sz="3500" dirty="0" smtClean="0"/>
                  <a:t>For HSS with </a:t>
                </a:r>
                <a:r>
                  <a:rPr lang="en-US" sz="3500" dirty="0"/>
                  <a:t>O(p) sample every </a:t>
                </a:r>
                <a:r>
                  <a:rPr lang="en-US" sz="3500" dirty="0" smtClean="0"/>
                  <a:t>round, #rounds required is O(log ((log p)/ </a:t>
                </a:r>
                <a:r>
                  <a:rPr lang="en-US" sz="3500" dirty="0" err="1" smtClean="0"/>
                  <a:t>ε</a:t>
                </a:r>
                <a:r>
                  <a:rPr lang="en-US" sz="3500" dirty="0" smtClean="0"/>
                  <a:t>)) </a:t>
                </a:r>
              </a:p>
              <a:p>
                <a:pPr marL="457200" indent="-457200">
                  <a:buFont typeface="Arial" charset="0"/>
                  <a:buChar char="•"/>
                </a:pPr>
                <a:r>
                  <a:rPr lang="en-US" sz="3500" dirty="0" smtClean="0"/>
                  <a:t>Sample sort requires O(p log N/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50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3500" dirty="0"/>
                          <m:t>ε</m:t>
                        </m:r>
                      </m:e>
                      <m:sup>
                        <m:r>
                          <a:rPr lang="en-US" sz="3500" b="0" i="1" smtClean="0">
                            <a:latin typeface="Cambria Math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500" dirty="0" smtClean="0"/>
                  <a:t>) samples</a:t>
                </a:r>
                <a:endParaRPr lang="en-US" sz="3500" dirty="0"/>
              </a:p>
            </p:txBody>
          </p:sp>
        </mc:Choice>
        <mc:Fallback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75033" y="24593614"/>
                <a:ext cx="14695715" cy="2360390"/>
              </a:xfrm>
              <a:prstGeom prst="rect">
                <a:avLst/>
              </a:prstGeom>
              <a:blipFill rotWithShape="0">
                <a:blip r:embed="rId11"/>
                <a:stretch>
                  <a:fillRect l="-1078" r="-290" b="-8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156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5428</TotalTime>
  <Words>566</Words>
  <Application>Microsoft Macintosh PowerPoint</Application>
  <PresentationFormat>Custom</PresentationFormat>
  <Paragraphs>73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Calibri</vt:lpstr>
      <vt:lpstr>Calibri Light</vt:lpstr>
      <vt:lpstr>Cambria Math</vt:lpstr>
      <vt:lpstr>Garamond</vt:lpstr>
      <vt:lpstr>LucidaGrande</vt:lpstr>
      <vt:lpstr>SimSun</vt:lpstr>
      <vt:lpstr>Wingdings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umathur3@illinois.edu</dc:creator>
  <cp:lastModifiedBy>Vipul Harsh, -</cp:lastModifiedBy>
  <cp:revision>232</cp:revision>
  <dcterms:created xsi:type="dcterms:W3CDTF">2015-07-21T19:33:22Z</dcterms:created>
  <dcterms:modified xsi:type="dcterms:W3CDTF">2017-02-14T04:39:15Z</dcterms:modified>
</cp:coreProperties>
</file>